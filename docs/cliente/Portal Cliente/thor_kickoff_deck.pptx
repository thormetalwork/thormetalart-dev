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111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029200" cy="6858000"/>
          </a:xfrm>
          <a:prstGeom prst="rect">
            <a:avLst/>
          </a:prstGeom>
          <a:solidFill>
            <a:srgbClr val="1C1C26"/>
          </a:solidFill>
          <a:ln w="12700">
            <a:solidFill>
              <a:srgbClr val="1C1C2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029200" y="-274320"/>
            <a:ext cx="7132320" cy="457200"/>
          </a:xfrm>
          <a:prstGeom prst="rect">
            <a:avLst/>
          </a:prstGeom>
          <a:solidFill>
            <a:srgbClr val="1A1A22">
              <a:alpha val="40000"/>
            </a:srgbClr>
          </a:solidFill>
          <a:ln w="12700">
            <a:solidFill>
              <a:srgbClr val="1A1A22">
                <a:alpha val="4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0" y="1188720"/>
            <a:ext cx="7132320" cy="457200"/>
          </a:xfrm>
          <a:prstGeom prst="rect">
            <a:avLst/>
          </a:prstGeom>
          <a:solidFill>
            <a:srgbClr val="1A1A22">
              <a:alpha val="40000"/>
            </a:srgbClr>
          </a:solidFill>
          <a:ln w="12700">
            <a:solidFill>
              <a:srgbClr val="1A1A22">
                <a:alpha val="4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0" y="2651760"/>
            <a:ext cx="7132320" cy="457200"/>
          </a:xfrm>
          <a:prstGeom prst="rect">
            <a:avLst/>
          </a:prstGeom>
          <a:solidFill>
            <a:srgbClr val="1A1A22">
              <a:alpha val="40000"/>
            </a:srgbClr>
          </a:solidFill>
          <a:ln w="12700">
            <a:solidFill>
              <a:srgbClr val="1A1A22">
                <a:alpha val="4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029200" y="4114800"/>
            <a:ext cx="7132320" cy="457200"/>
          </a:xfrm>
          <a:prstGeom prst="rect">
            <a:avLst/>
          </a:prstGeom>
          <a:solidFill>
            <a:srgbClr val="1A1A22">
              <a:alpha val="40000"/>
            </a:srgbClr>
          </a:solidFill>
          <a:ln w="12700">
            <a:solidFill>
              <a:srgbClr val="1A1A22">
                <a:alpha val="4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029200" y="5577840"/>
            <a:ext cx="7132320" cy="457200"/>
          </a:xfrm>
          <a:prstGeom prst="rect">
            <a:avLst/>
          </a:prstGeom>
          <a:solidFill>
            <a:srgbClr val="1A1A22">
              <a:alpha val="40000"/>
            </a:srgbClr>
          </a:solidFill>
          <a:ln w="12700">
            <a:solidFill>
              <a:srgbClr val="1A1A22">
                <a:alpha val="4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02920" y="502920"/>
            <a:ext cx="914400" cy="914400"/>
          </a:xfrm>
          <a:prstGeom prst="rect">
            <a:avLst/>
          </a:prstGeom>
          <a:solidFill>
            <a:srgbClr val="25252F"/>
          </a:solidFill>
          <a:ln w="19050">
            <a:solidFill>
              <a:srgbClr val="B886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02920" y="50292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B886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320040" y="1691640"/>
            <a:ext cx="438912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3600" b="1" dirty="0">
                <a:solidFill>
                  <a:srgbClr val="E8E6D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Plan Integral de</a:t>
            </a:r>
            <a:endParaRPr lang="en-US" sz="3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3600" b="1" dirty="0">
                <a:solidFill>
                  <a:srgbClr val="E8E6D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Presencia Digital</a:t>
            </a:r>
            <a:endParaRPr lang="en-US" sz="3600" dirty="0"/>
          </a:p>
        </p:txBody>
      </p:sp>
      <p:sp>
        <p:nvSpPr>
          <p:cNvPr id="12" name="Text 10"/>
          <p:cNvSpPr/>
          <p:nvPr/>
        </p:nvSpPr>
        <p:spPr>
          <a:xfrm>
            <a:off x="320040" y="3429000"/>
            <a:ext cx="4389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D4A8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Solidificación Digital Dual · Artista + Productor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320040" y="3977640"/>
            <a:ext cx="3657600" cy="0"/>
          </a:xfrm>
          <a:prstGeom prst="line">
            <a:avLst/>
          </a:prstGeom>
          <a:noFill/>
          <a:ln w="9525">
            <a:solidFill>
              <a:srgbClr val="B8860B">
                <a:alpha val="60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0040" y="4114800"/>
            <a:ext cx="43891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60000"/>
              </a:lnSpc>
              <a:buNone/>
            </a:pPr>
            <a:r>
              <a:rPr lang="en-US" sz="1100" b="1" dirty="0">
                <a:solidFill>
                  <a:srgbClr val="8A8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Cliente: </a:t>
            </a:r>
            <a:pPr indent="0" marL="0">
              <a:lnSpc>
                <a:spcPct val="160000"/>
              </a:lnSpc>
              <a:buNone/>
            </a:pPr>
            <a:r>
              <a:rPr lang="en-US" sz="1100" dirty="0">
                <a:solidFill>
                  <a:srgbClr val="8A8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Karel Frometa · Thor Metal Art LLC
</a:t>
            </a:r>
            <a:pPr indent="0" marL="0">
              <a:lnSpc>
                <a:spcPct val="160000"/>
              </a:lnSpc>
              <a:buNone/>
            </a:pPr>
            <a:r>
              <a:rPr lang="en-US" sz="1100" b="1" dirty="0">
                <a:solidFill>
                  <a:srgbClr val="8A8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Alcance: </a:t>
            </a:r>
            <a:pPr indent="0" marL="0">
              <a:lnSpc>
                <a:spcPct val="160000"/>
              </a:lnSpc>
              <a:buNone/>
            </a:pPr>
            <a:r>
              <a:rPr lang="en-US" sz="1100" dirty="0">
                <a:solidFill>
                  <a:srgbClr val="8A8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Miami, FL · Mercado local y regional
</a:t>
            </a:r>
            <a:pPr indent="0" marL="0">
              <a:lnSpc>
                <a:spcPct val="160000"/>
              </a:lnSpc>
              <a:buNone/>
            </a:pPr>
            <a:r>
              <a:rPr lang="en-US" sz="1100" b="1" dirty="0">
                <a:solidFill>
                  <a:srgbClr val="8A8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Versión: </a:t>
            </a:r>
            <a:pPr indent="0" marL="0">
              <a:lnSpc>
                <a:spcPct val="160000"/>
              </a:lnSpc>
              <a:buNone/>
            </a:pPr>
            <a:r>
              <a:rPr lang="en-US" sz="1100" dirty="0">
                <a:solidFill>
                  <a:srgbClr val="8A8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v1.0 · Kick-off 2025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669280" y="1645920"/>
            <a:ext cx="5029200" cy="1188720"/>
          </a:xfrm>
          <a:prstGeom prst="rect">
            <a:avLst/>
          </a:prstGeom>
          <a:solidFill>
            <a:srgbClr val="1C1C26"/>
          </a:solidFill>
          <a:ln w="6350">
            <a:solidFill>
              <a:srgbClr val="B8860B">
                <a:alpha val="4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943600" y="1737360"/>
            <a:ext cx="1371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B886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4200" dirty="0"/>
          </a:p>
        </p:txBody>
      </p:sp>
      <p:sp>
        <p:nvSpPr>
          <p:cNvPr id="17" name="Text 15"/>
          <p:cNvSpPr/>
          <p:nvPr/>
        </p:nvSpPr>
        <p:spPr>
          <a:xfrm>
            <a:off x="7315200" y="1938528"/>
            <a:ext cx="3108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A8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Fases de ejecución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5669280" y="3200400"/>
            <a:ext cx="5029200" cy="1188720"/>
          </a:xfrm>
          <a:prstGeom prst="rect">
            <a:avLst/>
          </a:prstGeom>
          <a:solidFill>
            <a:srgbClr val="1C1C26"/>
          </a:solidFill>
          <a:ln w="6350">
            <a:solidFill>
              <a:srgbClr val="B8860B">
                <a:alpha val="4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5943600" y="3291840"/>
            <a:ext cx="1371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B886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6+</a:t>
            </a:r>
            <a:endParaRPr lang="en-US" sz="4200" dirty="0"/>
          </a:p>
        </p:txBody>
      </p:sp>
      <p:sp>
        <p:nvSpPr>
          <p:cNvPr id="20" name="Text 18"/>
          <p:cNvSpPr/>
          <p:nvPr/>
        </p:nvSpPr>
        <p:spPr>
          <a:xfrm>
            <a:off x="7315200" y="3493008"/>
            <a:ext cx="3108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A8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Meses de roadmap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5669280" y="4754880"/>
            <a:ext cx="5029200" cy="1188720"/>
          </a:xfrm>
          <a:prstGeom prst="rect">
            <a:avLst/>
          </a:prstGeom>
          <a:solidFill>
            <a:srgbClr val="1C1C26"/>
          </a:solidFill>
          <a:ln w="6350">
            <a:solidFill>
              <a:srgbClr val="B8860B">
                <a:alpha val="4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943600" y="4846320"/>
            <a:ext cx="1371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B886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12</a:t>
            </a:r>
            <a:endParaRPr lang="en-US" sz="4200" dirty="0"/>
          </a:p>
        </p:txBody>
      </p:sp>
      <p:sp>
        <p:nvSpPr>
          <p:cNvPr id="23" name="Text 21"/>
          <p:cNvSpPr/>
          <p:nvPr/>
        </p:nvSpPr>
        <p:spPr>
          <a:xfrm>
            <a:off x="7315200" y="5047488"/>
            <a:ext cx="3108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A8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Documentos del proyecto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111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201168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400" kern="0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DIAGNÓSTICO · ESTADO ACTUAL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0" y="6492240"/>
            <a:ext cx="12161520" cy="365760"/>
          </a:xfrm>
          <a:prstGeom prst="rect">
            <a:avLst/>
          </a:prstGeom>
          <a:solidFill>
            <a:srgbClr val="1C1C26"/>
          </a:solidFill>
          <a:ln w="12700">
            <a:solidFill>
              <a:srgbClr val="1C1C2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651052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5A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Documento 02 — Diagnóstico y Auditoría Digital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8686800" y="6510528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5A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Thor Metal Art · Miami, FL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320040" y="5029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8E6D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¿Dónde estamos hoy?</a:t>
            </a:r>
            <a:endParaRPr lang="en-US" sz="3000" dirty="0"/>
          </a:p>
        </p:txBody>
      </p:sp>
      <p:sp>
        <p:nvSpPr>
          <p:cNvPr id="8" name="Shape 6"/>
          <p:cNvSpPr/>
          <p:nvPr/>
        </p:nvSpPr>
        <p:spPr>
          <a:xfrm>
            <a:off x="320040" y="1371600"/>
            <a:ext cx="2743200" cy="1828800"/>
          </a:xfrm>
          <a:prstGeom prst="rect">
            <a:avLst/>
          </a:prstGeom>
          <a:solidFill>
            <a:srgbClr val="1C1C26"/>
          </a:solidFill>
          <a:ln w="12700">
            <a:solidFill>
              <a:srgbClr val="3DA870">
                <a:alpha val="45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20040" y="1371600"/>
            <a:ext cx="2743200" cy="54864"/>
          </a:xfrm>
          <a:prstGeom prst="rect">
            <a:avLst/>
          </a:prstGeom>
          <a:solidFill>
            <a:srgbClr val="3DA870"/>
          </a:solidFill>
          <a:ln w="12700">
            <a:solidFill>
              <a:srgbClr val="3DA87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4632" y="1554480"/>
            <a:ext cx="24140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A8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Entidad legal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84632" y="1938528"/>
            <a:ext cx="241401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DA87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5/5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484632" y="2560320"/>
            <a:ext cx="24140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5A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LLC ACTIVE en Florida ✓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264408" y="1371600"/>
            <a:ext cx="2743200" cy="1828800"/>
          </a:xfrm>
          <a:prstGeom prst="rect">
            <a:avLst/>
          </a:prstGeom>
          <a:solidFill>
            <a:srgbClr val="1C1C26"/>
          </a:solidFill>
          <a:ln w="12700">
            <a:solidFill>
              <a:srgbClr val="D4A820">
                <a:alpha val="45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264408" y="1371600"/>
            <a:ext cx="2743200" cy="54864"/>
          </a:xfrm>
          <a:prstGeom prst="rect">
            <a:avLst/>
          </a:prstGeom>
          <a:solidFill>
            <a:srgbClr val="D4A820"/>
          </a:solidFill>
          <a:ln w="12700">
            <a:solidFill>
              <a:srgbClr val="D4A82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429000" y="1554480"/>
            <a:ext cx="24140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A8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Instagram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429000" y="1938528"/>
            <a:ext cx="241401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D4A8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3/5</a:t>
            </a:r>
            <a:endParaRPr lang="en-US" sz="3000" dirty="0"/>
          </a:p>
        </p:txBody>
      </p:sp>
      <p:sp>
        <p:nvSpPr>
          <p:cNvPr id="17" name="Text 15"/>
          <p:cNvSpPr/>
          <p:nvPr/>
        </p:nvSpPr>
        <p:spPr>
          <a:xfrm>
            <a:off x="3429000" y="2560320"/>
            <a:ext cx="24140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5A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Activo · sin sistema de CTA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208776" y="1371600"/>
            <a:ext cx="2743200" cy="1828800"/>
          </a:xfrm>
          <a:prstGeom prst="rect">
            <a:avLst/>
          </a:prstGeom>
          <a:solidFill>
            <a:srgbClr val="1C1C26"/>
          </a:solidFill>
          <a:ln w="12700">
            <a:solidFill>
              <a:srgbClr val="D94A4A">
                <a:alpha val="45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208776" y="1371600"/>
            <a:ext cx="2743200" cy="54864"/>
          </a:xfrm>
          <a:prstGeom prst="rect">
            <a:avLst/>
          </a:prstGeom>
          <a:solidFill>
            <a:srgbClr val="D94A4A"/>
          </a:solidFill>
          <a:ln w="12700">
            <a:solidFill>
              <a:srgbClr val="D94A4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373368" y="1554480"/>
            <a:ext cx="24140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A8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Business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373368" y="1938528"/>
            <a:ext cx="241401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D94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1/5</a:t>
            </a:r>
            <a:endParaRPr lang="en-US" sz="3000" dirty="0"/>
          </a:p>
        </p:txBody>
      </p:sp>
      <p:sp>
        <p:nvSpPr>
          <p:cNvPr id="22" name="Text 20"/>
          <p:cNvSpPr/>
          <p:nvPr/>
        </p:nvSpPr>
        <p:spPr>
          <a:xfrm>
            <a:off x="6373368" y="2560320"/>
            <a:ext cx="24140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5A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existe · Brecha crítica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9153144" y="1371600"/>
            <a:ext cx="2743200" cy="1828800"/>
          </a:xfrm>
          <a:prstGeom prst="rect">
            <a:avLst/>
          </a:prstGeom>
          <a:solidFill>
            <a:srgbClr val="1C1C26"/>
          </a:solidFill>
          <a:ln w="12700">
            <a:solidFill>
              <a:srgbClr val="D94A4A">
                <a:alpha val="45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9153144" y="1371600"/>
            <a:ext cx="2743200" cy="54864"/>
          </a:xfrm>
          <a:prstGeom prst="rect">
            <a:avLst/>
          </a:prstGeom>
          <a:solidFill>
            <a:srgbClr val="D94A4A"/>
          </a:solidFill>
          <a:ln w="12700">
            <a:solidFill>
              <a:srgbClr val="D94A4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317736" y="1554480"/>
            <a:ext cx="24140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A8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Sitio web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9317736" y="1938528"/>
            <a:ext cx="241401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D94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1/5</a:t>
            </a:r>
            <a:endParaRPr lang="en-US" sz="3000" dirty="0"/>
          </a:p>
        </p:txBody>
      </p:sp>
      <p:sp>
        <p:nvSpPr>
          <p:cNvPr id="27" name="Text 25"/>
          <p:cNvSpPr/>
          <p:nvPr/>
        </p:nvSpPr>
        <p:spPr>
          <a:xfrm>
            <a:off x="9317736" y="2560320"/>
            <a:ext cx="24140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5A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existe · Sin hub propio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320040" y="3474720"/>
            <a:ext cx="2743200" cy="1828800"/>
          </a:xfrm>
          <a:prstGeom prst="rect">
            <a:avLst/>
          </a:prstGeom>
          <a:solidFill>
            <a:srgbClr val="1C1C26"/>
          </a:solidFill>
          <a:ln w="12700">
            <a:solidFill>
              <a:srgbClr val="D94A4A">
                <a:alpha val="45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320040" y="3474720"/>
            <a:ext cx="2743200" cy="54864"/>
          </a:xfrm>
          <a:prstGeom prst="rect">
            <a:avLst/>
          </a:prstGeom>
          <a:solidFill>
            <a:srgbClr val="D94A4A"/>
          </a:solidFill>
          <a:ln w="12700">
            <a:solidFill>
              <a:srgbClr val="D94A4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84632" y="3657600"/>
            <a:ext cx="24140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A8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Reseñas Google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484632" y="4041648"/>
            <a:ext cx="241401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D94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1/5</a:t>
            </a:r>
            <a:endParaRPr lang="en-US" sz="3000" dirty="0"/>
          </a:p>
        </p:txBody>
      </p:sp>
      <p:sp>
        <p:nvSpPr>
          <p:cNvPr id="32" name="Text 30"/>
          <p:cNvSpPr/>
          <p:nvPr/>
        </p:nvSpPr>
        <p:spPr>
          <a:xfrm>
            <a:off x="484632" y="4663440"/>
            <a:ext cx="24140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5A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reseñas · Sin reputación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3264408" y="3474720"/>
            <a:ext cx="2743200" cy="1828800"/>
          </a:xfrm>
          <a:prstGeom prst="rect">
            <a:avLst/>
          </a:prstGeom>
          <a:solidFill>
            <a:srgbClr val="1C1C26"/>
          </a:solidFill>
          <a:ln w="12700">
            <a:solidFill>
              <a:srgbClr val="D94A4A">
                <a:alpha val="45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3264408" y="3474720"/>
            <a:ext cx="2743200" cy="54864"/>
          </a:xfrm>
          <a:prstGeom prst="rect">
            <a:avLst/>
          </a:prstGeom>
          <a:solidFill>
            <a:srgbClr val="D94A4A"/>
          </a:solidFill>
          <a:ln w="12700">
            <a:solidFill>
              <a:srgbClr val="D94A4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429000" y="3657600"/>
            <a:ext cx="24140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A8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Directorios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3429000" y="4041648"/>
            <a:ext cx="241401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D94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2/5</a:t>
            </a:r>
            <a:endParaRPr lang="en-US" sz="3000" dirty="0"/>
          </a:p>
        </p:txBody>
      </p:sp>
      <p:sp>
        <p:nvSpPr>
          <p:cNvPr id="37" name="Text 35"/>
          <p:cNvSpPr/>
          <p:nvPr/>
        </p:nvSpPr>
        <p:spPr>
          <a:xfrm>
            <a:off x="3429000" y="4663440"/>
            <a:ext cx="24140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5A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Angi, Yelp, etc.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6208776" y="3474720"/>
            <a:ext cx="2743200" cy="1828800"/>
          </a:xfrm>
          <a:prstGeom prst="rect">
            <a:avLst/>
          </a:prstGeom>
          <a:solidFill>
            <a:srgbClr val="1C1C26"/>
          </a:solidFill>
          <a:ln w="12700">
            <a:solidFill>
              <a:srgbClr val="D4A820">
                <a:alpha val="45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6208776" y="3474720"/>
            <a:ext cx="2743200" cy="54864"/>
          </a:xfrm>
          <a:prstGeom prst="rect">
            <a:avLst/>
          </a:prstGeom>
          <a:solidFill>
            <a:srgbClr val="D4A820"/>
          </a:solidFill>
          <a:ln w="12700">
            <a:solidFill>
              <a:srgbClr val="D4A82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373368" y="3657600"/>
            <a:ext cx="24140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A8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Posicionamiento dual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6373368" y="4041648"/>
            <a:ext cx="241401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D4A8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3/5</a:t>
            </a:r>
            <a:endParaRPr lang="en-US" sz="3000" dirty="0"/>
          </a:p>
        </p:txBody>
      </p:sp>
      <p:sp>
        <p:nvSpPr>
          <p:cNvPr id="42" name="Text 40"/>
          <p:cNvSpPr/>
          <p:nvPr/>
        </p:nvSpPr>
        <p:spPr>
          <a:xfrm>
            <a:off x="6373368" y="4663440"/>
            <a:ext cx="24140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5A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Existe · no comunicado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9153144" y="3474720"/>
            <a:ext cx="2743200" cy="1828800"/>
          </a:xfrm>
          <a:prstGeom prst="rect">
            <a:avLst/>
          </a:prstGeom>
          <a:solidFill>
            <a:srgbClr val="1C1C26"/>
          </a:solidFill>
          <a:ln w="12700">
            <a:solidFill>
              <a:srgbClr val="D94A4A">
                <a:alpha val="45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44" name="Shape 42"/>
          <p:cNvSpPr/>
          <p:nvPr/>
        </p:nvSpPr>
        <p:spPr>
          <a:xfrm>
            <a:off x="9153144" y="3474720"/>
            <a:ext cx="2743200" cy="54864"/>
          </a:xfrm>
          <a:prstGeom prst="rect">
            <a:avLst/>
          </a:prstGeom>
          <a:solidFill>
            <a:srgbClr val="D94A4A"/>
          </a:solidFill>
          <a:ln w="12700">
            <a:solidFill>
              <a:srgbClr val="D94A4A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9317736" y="3657600"/>
            <a:ext cx="24140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A8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Riesgo de marca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9317736" y="4041648"/>
            <a:ext cx="241401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D94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2/5</a:t>
            </a:r>
            <a:endParaRPr lang="en-US" sz="3000" dirty="0"/>
          </a:p>
        </p:txBody>
      </p:sp>
      <p:sp>
        <p:nvSpPr>
          <p:cNvPr id="47" name="Text 45"/>
          <p:cNvSpPr/>
          <p:nvPr/>
        </p:nvSpPr>
        <p:spPr>
          <a:xfrm>
            <a:off x="9317736" y="4663440"/>
            <a:ext cx="24140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5A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"Thor Wall Art" absorbe búsquedas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111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201168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400" kern="0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DIAGNÓSTICO · CONCLUSIÓN CENTRAL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0" y="6492240"/>
            <a:ext cx="12161520" cy="365760"/>
          </a:xfrm>
          <a:prstGeom prst="rect">
            <a:avLst/>
          </a:prstGeom>
          <a:solidFill>
            <a:srgbClr val="1C1C26"/>
          </a:solidFill>
          <a:ln w="12700">
            <a:solidFill>
              <a:srgbClr val="1C1C2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651052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5A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problema NO es de contenido — es de infraestructura digital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8686800" y="6510528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5A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Thor Metal Art · Miami, FL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320040" y="5029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8E6D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El problema central</a:t>
            </a:r>
            <a:endParaRPr lang="en-US" sz="3000" dirty="0"/>
          </a:p>
        </p:txBody>
      </p:sp>
      <p:sp>
        <p:nvSpPr>
          <p:cNvPr id="8" name="Shape 6"/>
          <p:cNvSpPr/>
          <p:nvPr/>
        </p:nvSpPr>
        <p:spPr>
          <a:xfrm>
            <a:off x="320040" y="1325880"/>
            <a:ext cx="11521440" cy="1371600"/>
          </a:xfrm>
          <a:prstGeom prst="rect">
            <a:avLst/>
          </a:prstGeom>
          <a:solidFill>
            <a:srgbClr val="1C1C26"/>
          </a:solidFill>
          <a:ln w="12700">
            <a:solidFill>
              <a:srgbClr val="B886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20040" y="1325880"/>
            <a:ext cx="64008" cy="1371600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94360" y="146304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E8E6D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Thor Metal Art no tiene problemas de producto ni de comunicación visual.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94360" y="192024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A8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Tiene un problema de INFRAESTRUCTURA DIGITAL — está construyendo una marca sobre terreno ajeno (Instagram)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8A8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los cimientos propios que convierten visibilidad en leads.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20040" y="2926080"/>
            <a:ext cx="3657600" cy="3200400"/>
          </a:xfrm>
          <a:prstGeom prst="rect">
            <a:avLst/>
          </a:prstGeom>
          <a:solidFill>
            <a:srgbClr val="1C1C26"/>
          </a:solidFill>
          <a:ln w="6350">
            <a:solidFill>
              <a:srgbClr val="D94A4A">
                <a:alpha val="5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02920" y="30632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9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502920" y="352044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E6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Invisible en Google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02920" y="4005072"/>
            <a:ext cx="32918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A8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GBP, la búsqueda "custom metal gates Miami" no muestra Thor Metal Art. El local pack (mapa) está dominado por la competencia.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251960" y="2926080"/>
            <a:ext cx="3657600" cy="3200400"/>
          </a:xfrm>
          <a:prstGeom prst="rect">
            <a:avLst/>
          </a:prstGeom>
          <a:solidFill>
            <a:srgbClr val="1C1C26"/>
          </a:solidFill>
          <a:ln w="6350">
            <a:solidFill>
              <a:srgbClr val="D94A4A">
                <a:alpha val="5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434840" y="30632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9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4434840" y="352044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E6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solo punto de falla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434840" y="4005072"/>
            <a:ext cx="32918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A8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 el negocio depende de Instagram. Un cambio de algoritmo o restricción de cuenta detiene el flujo de leads al 100%.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8183880" y="2926080"/>
            <a:ext cx="3657600" cy="3200400"/>
          </a:xfrm>
          <a:prstGeom prst="rect">
            <a:avLst/>
          </a:prstGeom>
          <a:solidFill>
            <a:srgbClr val="1C1C26"/>
          </a:solidFill>
          <a:ln w="6350">
            <a:solidFill>
              <a:srgbClr val="D94A4A">
                <a:alpha val="5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8366760" y="30632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9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8366760" y="352044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E6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Confusión de marca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8366760" y="4005072"/>
            <a:ext cx="32918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A8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"Thor Wall Art" y "Thor Metal Wall Art" en e-commerce absorben búsquedas orgánicas. Sin "Miami" en todos los activos, los clientes encuentran a otro.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111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201168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400" kern="0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ESTRATEGIA · FRAMEWORK DUAL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0" y="6492240"/>
            <a:ext cx="12161520" cy="365760"/>
          </a:xfrm>
          <a:prstGeom prst="rect">
            <a:avLst/>
          </a:prstGeom>
          <a:solidFill>
            <a:srgbClr val="1C1C26"/>
          </a:solidFill>
          <a:ln w="12700">
            <a:solidFill>
              <a:srgbClr val="1C1C2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651052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5A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Documento 03 — Brief de Posicionamiento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8686800" y="6510528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5A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Thor Metal Art · Miami, FL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320040" y="50292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8E6D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Una marca. Dos motores.</a:t>
            </a:r>
            <a:endParaRPr lang="en-US" sz="3000" dirty="0"/>
          </a:p>
        </p:txBody>
      </p:sp>
      <p:sp>
        <p:nvSpPr>
          <p:cNvPr id="8" name="Shape 6"/>
          <p:cNvSpPr/>
          <p:nvPr/>
        </p:nvSpPr>
        <p:spPr>
          <a:xfrm>
            <a:off x="320040" y="1325880"/>
            <a:ext cx="5577840" cy="4846320"/>
          </a:xfrm>
          <a:prstGeom prst="rect">
            <a:avLst/>
          </a:prstGeom>
          <a:solidFill>
            <a:srgbClr val="1C1C26"/>
          </a:solidFill>
          <a:ln w="12700">
            <a:solidFill>
              <a:srgbClr val="B8860B">
                <a:alpha val="5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20040" y="1325880"/>
            <a:ext cx="5577840" cy="54864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150876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MOTOR PRODUCTOR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48640" y="1874520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8E6D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Fabricación &amp; Instalación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548640" y="2542032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SEGMENTO: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2057400" y="2542032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8E6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Homeowners premium · Contractors · Developers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48640" y="320040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PRODUCTO: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2057400" y="320040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8E6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Gates · Railings · Fences · Furniture · Stairs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48640" y="3858768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ARGUMENTO: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2057400" y="3858768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8E6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 técnica · Water jet · Instalación incluida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48640" y="4517136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CANAL: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2057400" y="4517136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8E6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GBP + Sitio web + Angi + Referrals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48640" y="5175504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CTA: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2057400" y="5175504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8E6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a Free Quote · Solicitar cotización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263640" y="1325880"/>
            <a:ext cx="5577840" cy="4846320"/>
          </a:xfrm>
          <a:prstGeom prst="rect">
            <a:avLst/>
          </a:prstGeom>
          <a:solidFill>
            <a:srgbClr val="1C1C26"/>
          </a:solidFill>
          <a:ln w="12700">
            <a:solidFill>
              <a:srgbClr val="4A90D9">
                <a:alpha val="5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263640" y="1325880"/>
            <a:ext cx="5577840" cy="54864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92240" y="150876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4A90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MOTOR ARTISTA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492240" y="1874520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8E6D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Arte en Metal &amp; Comisiones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6492240" y="2542032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4A90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SEGMENTO: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8001000" y="2542032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8E6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Coleccionistas · Interior designers · Hospitality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492240" y="320040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4A90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PRODUCTO: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8001000" y="320040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8E6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Esculturas · Paneles decorativos · Comisiones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6492240" y="3858768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4A90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ARGUMENTO: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8001000" y="3858768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8E6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Estética · Exclusividad · Autoría · Proceso visible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6492240" y="4517136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4A90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CANAL: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8001000" y="4517136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8E6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Instagram + Web (sección Arte) + Galerías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6492240" y="5175504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4A90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CTA: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8001000" y="5175504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8E6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Commission a Piece · Contactar al artista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111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201168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400" kern="0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· ROADMAP DE EJECUCIÓN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0" y="6492240"/>
            <a:ext cx="12161520" cy="365760"/>
          </a:xfrm>
          <a:prstGeom prst="rect">
            <a:avLst/>
          </a:prstGeom>
          <a:solidFill>
            <a:srgbClr val="1C1C26"/>
          </a:solidFill>
          <a:ln w="12700">
            <a:solidFill>
              <a:srgbClr val="1C1C2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651052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5A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Documento 04 — Plan de Proyecto &amp; Checklists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8686800" y="6510528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5A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Thor Metal Art · Miami, FL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320040" y="5029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8E6D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 fases. 6 meses.</a:t>
            </a:r>
            <a:endParaRPr lang="en-US" sz="3000" dirty="0"/>
          </a:p>
        </p:txBody>
      </p:sp>
      <p:sp>
        <p:nvSpPr>
          <p:cNvPr id="8" name="Shape 6"/>
          <p:cNvSpPr/>
          <p:nvPr/>
        </p:nvSpPr>
        <p:spPr>
          <a:xfrm>
            <a:off x="320040" y="1325880"/>
            <a:ext cx="3794760" cy="4846320"/>
          </a:xfrm>
          <a:prstGeom prst="rect">
            <a:avLst/>
          </a:prstGeom>
          <a:solidFill>
            <a:srgbClr val="1E1E2A"/>
          </a:solidFill>
          <a:ln w="19050">
            <a:solidFill>
              <a:srgbClr val="B886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20040" y="1325880"/>
            <a:ext cx="3794760" cy="64008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1481328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01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502920" y="1783080"/>
            <a:ext cx="3429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8E6D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Cimentación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502920" y="2267712"/>
            <a:ext cx="3429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5A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Semanas 1–6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02920" y="2578608"/>
            <a:ext cx="3429000" cy="329184"/>
          </a:xfrm>
          <a:prstGeom prst="rect">
            <a:avLst/>
          </a:prstGeom>
          <a:solidFill>
            <a:srgbClr val="B8860B">
              <a:alpha val="12000"/>
            </a:srgbClr>
          </a:solidFill>
          <a:ln w="12700">
            <a:solidFill>
              <a:srgbClr val="B8860B">
                <a:alpha val="30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" y="2606040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Objetivo: Ser encontrable en Google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02920" y="3035808"/>
            <a:ext cx="128016" cy="12801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22376" y="2999232"/>
            <a:ext cx="3246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8E6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Crear y verificar Google Business Profile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02920" y="3456432"/>
            <a:ext cx="128016" cy="12801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22376" y="3419856"/>
            <a:ext cx="3246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8E6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de solicitud de reseñas · primeras 3–8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02920" y="3877056"/>
            <a:ext cx="128016" cy="12801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22376" y="3840480"/>
            <a:ext cx="3246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8E6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Actualizar Instagram con NAP consistente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502920" y="4297680"/>
            <a:ext cx="128016" cy="12801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22376" y="4261104"/>
            <a:ext cx="3246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8E6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Registrar dominio web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502920" y="4718304"/>
            <a:ext cx="128016" cy="12801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22376" y="4681728"/>
            <a:ext cx="3246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8E6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Identidad base EN/ES definida y aprobada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502920" y="5806440"/>
            <a:ext cx="3429000" cy="274320"/>
          </a:xfrm>
          <a:prstGeom prst="rect">
            <a:avLst/>
          </a:prstGeom>
          <a:solidFill>
            <a:srgbClr val="25252F"/>
          </a:solidFill>
          <a:ln w="12700">
            <a:solidFill>
              <a:srgbClr val="25252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48640" y="5824728"/>
            <a:ext cx="3337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5A5A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Gate: GBP verificado + 3 reseñas + identidad consistente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2834640" y="1481328"/>
            <a:ext cx="1051560" cy="256032"/>
          </a:xfrm>
          <a:prstGeom prst="roundRect">
            <a:avLst>
              <a:gd name="adj" fmla="val 17857"/>
            </a:avLst>
          </a:prstGeom>
          <a:solidFill>
            <a:srgbClr val="B8860B">
              <a:alpha val="20000"/>
            </a:srgbClr>
          </a:solidFill>
          <a:ln w="12700">
            <a:solidFill>
              <a:srgbClr val="B8860B">
                <a:alpha val="5000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852928" y="1499616"/>
            <a:ext cx="10241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EN CURSO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4297680" y="1325880"/>
            <a:ext cx="3794760" cy="4846320"/>
          </a:xfrm>
          <a:prstGeom prst="rect">
            <a:avLst/>
          </a:prstGeom>
          <a:solidFill>
            <a:srgbClr val="1C1C26"/>
          </a:solidFill>
          <a:ln w="6350">
            <a:solidFill>
              <a:srgbClr val="4A90D9">
                <a:alpha val="45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297680" y="1325880"/>
            <a:ext cx="3794760" cy="64008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480560" y="1481328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4A90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02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4480560" y="1783080"/>
            <a:ext cx="3429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8E6D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Estructuración</a:t>
            </a:r>
            <a:endParaRPr lang="en-US" sz="2000" dirty="0"/>
          </a:p>
        </p:txBody>
      </p:sp>
      <p:sp>
        <p:nvSpPr>
          <p:cNvPr id="33" name="Text 31"/>
          <p:cNvSpPr/>
          <p:nvPr/>
        </p:nvSpPr>
        <p:spPr>
          <a:xfrm>
            <a:off x="4480560" y="2267712"/>
            <a:ext cx="3429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5A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Semanas 7–14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4480560" y="2578608"/>
            <a:ext cx="3429000" cy="329184"/>
          </a:xfrm>
          <a:prstGeom prst="rect">
            <a:avLst/>
          </a:prstGeom>
          <a:solidFill>
            <a:srgbClr val="4A90D9">
              <a:alpha val="12000"/>
            </a:srgbClr>
          </a:solidFill>
          <a:ln w="12700">
            <a:solidFill>
              <a:srgbClr val="4A90D9">
                <a:alpha val="30000"/>
              </a:srgbClr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617720" y="2606040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A90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Objetivo: Convertir tráfico en leads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4480560" y="3035808"/>
            <a:ext cx="128016" cy="128016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700016" y="2999232"/>
            <a:ext cx="3246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8A8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Sitio web hub: Home · Servicios · Arte · Contacto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4480560" y="3456432"/>
            <a:ext cx="128016" cy="128016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700016" y="3419856"/>
            <a:ext cx="3246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8A8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SEO local por servicio (gates, railings, fences…)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4480560" y="3877056"/>
            <a:ext cx="128016" cy="128016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700016" y="3840480"/>
            <a:ext cx="3246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8A8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casos de obra documentados con fotos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4480560" y="4297680"/>
            <a:ext cx="128016" cy="128016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700016" y="4261104"/>
            <a:ext cx="3246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8A8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Formulario de cotización + WhatsApp Business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4480560" y="4718304"/>
            <a:ext cx="128016" cy="128016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700016" y="4681728"/>
            <a:ext cx="3246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8A8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Perfil en Angi · GA4 + Search Console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4480560" y="5806440"/>
            <a:ext cx="3429000" cy="274320"/>
          </a:xfrm>
          <a:prstGeom prst="rect">
            <a:avLst/>
          </a:prstGeom>
          <a:solidFill>
            <a:srgbClr val="25252F"/>
          </a:solidFill>
          <a:ln w="12700">
            <a:solidFill>
              <a:srgbClr val="25252F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526280" y="5824728"/>
            <a:ext cx="3337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5A5A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Gate: Web publicada + 1 lead no-Instagram + 20 clics GBP/mes</a:t>
            </a:r>
            <a:endParaRPr lang="en-US" sz="850" dirty="0"/>
          </a:p>
        </p:txBody>
      </p:sp>
      <p:sp>
        <p:nvSpPr>
          <p:cNvPr id="48" name="Shape 46"/>
          <p:cNvSpPr/>
          <p:nvPr/>
        </p:nvSpPr>
        <p:spPr>
          <a:xfrm>
            <a:off x="8275320" y="1325880"/>
            <a:ext cx="3794760" cy="4846320"/>
          </a:xfrm>
          <a:prstGeom prst="rect">
            <a:avLst/>
          </a:prstGeom>
          <a:solidFill>
            <a:srgbClr val="1C1C26"/>
          </a:solidFill>
          <a:ln w="6350">
            <a:solidFill>
              <a:srgbClr val="3DA870">
                <a:alpha val="45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49" name="Shape 47"/>
          <p:cNvSpPr/>
          <p:nvPr/>
        </p:nvSpPr>
        <p:spPr>
          <a:xfrm>
            <a:off x="8275320" y="1325880"/>
            <a:ext cx="3794760" cy="64008"/>
          </a:xfrm>
          <a:prstGeom prst="rect">
            <a:avLst/>
          </a:prstGeom>
          <a:solidFill>
            <a:srgbClr val="3DA870"/>
          </a:solidFill>
          <a:ln w="12700">
            <a:solidFill>
              <a:srgbClr val="3DA870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8458200" y="1481328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3DA8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03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8458200" y="1783080"/>
            <a:ext cx="3429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8E6D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Autoridad</a:t>
            </a:r>
            <a:endParaRPr lang="en-US" sz="2000" dirty="0"/>
          </a:p>
        </p:txBody>
      </p:sp>
      <p:sp>
        <p:nvSpPr>
          <p:cNvPr id="52" name="Text 50"/>
          <p:cNvSpPr/>
          <p:nvPr/>
        </p:nvSpPr>
        <p:spPr>
          <a:xfrm>
            <a:off x="8458200" y="2267712"/>
            <a:ext cx="3429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5A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 4 en adelante</a:t>
            </a: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>
            <a:off x="8458200" y="2578608"/>
            <a:ext cx="3429000" cy="329184"/>
          </a:xfrm>
          <a:prstGeom prst="rect">
            <a:avLst/>
          </a:prstGeom>
          <a:solidFill>
            <a:srgbClr val="3DA870">
              <a:alpha val="12000"/>
            </a:srgbClr>
          </a:solidFill>
          <a:ln w="12700">
            <a:solidFill>
              <a:srgbClr val="3DA870">
                <a:alpha val="30000"/>
              </a:srgbClr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8595360" y="2606040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DA8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Objetivo: Escalar y dominar el mercado</a:t>
            </a:r>
            <a:endParaRPr lang="en-US" sz="1000" dirty="0"/>
          </a:p>
        </p:txBody>
      </p:sp>
      <p:sp>
        <p:nvSpPr>
          <p:cNvPr id="55" name="Shape 53"/>
          <p:cNvSpPr/>
          <p:nvPr/>
        </p:nvSpPr>
        <p:spPr>
          <a:xfrm>
            <a:off x="8458200" y="3035808"/>
            <a:ext cx="128016" cy="128016"/>
          </a:xfrm>
          <a:prstGeom prst="rect">
            <a:avLst/>
          </a:prstGeom>
          <a:solidFill>
            <a:srgbClr val="3DA870"/>
          </a:solidFill>
          <a:ln w="12700">
            <a:solidFill>
              <a:srgbClr val="3DA870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8677656" y="2999232"/>
            <a:ext cx="3246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8A8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Calendario editorial: 3 posts/semana</a:t>
            </a:r>
            <a:endParaRPr lang="en-US" sz="1000" dirty="0"/>
          </a:p>
        </p:txBody>
      </p:sp>
      <p:sp>
        <p:nvSpPr>
          <p:cNvPr id="57" name="Shape 55"/>
          <p:cNvSpPr/>
          <p:nvPr/>
        </p:nvSpPr>
        <p:spPr>
          <a:xfrm>
            <a:off x="8458200" y="3456432"/>
            <a:ext cx="128016" cy="128016"/>
          </a:xfrm>
          <a:prstGeom prst="rect">
            <a:avLst/>
          </a:prstGeom>
          <a:solidFill>
            <a:srgbClr val="3DA870"/>
          </a:solidFill>
          <a:ln w="12700">
            <a:solidFill>
              <a:srgbClr val="3DA870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8677656" y="3419856"/>
            <a:ext cx="3246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8A8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Programa de colaboraciones con designers/arquitectos</a:t>
            </a:r>
            <a:endParaRPr lang="en-US" sz="1000" dirty="0"/>
          </a:p>
        </p:txBody>
      </p:sp>
      <p:sp>
        <p:nvSpPr>
          <p:cNvPr id="59" name="Shape 57"/>
          <p:cNvSpPr/>
          <p:nvPr/>
        </p:nvSpPr>
        <p:spPr>
          <a:xfrm>
            <a:off x="8458200" y="3877056"/>
            <a:ext cx="128016" cy="128016"/>
          </a:xfrm>
          <a:prstGeom prst="rect">
            <a:avLst/>
          </a:prstGeom>
          <a:solidFill>
            <a:srgbClr val="3DA870"/>
          </a:solidFill>
          <a:ln w="12700">
            <a:solidFill>
              <a:srgbClr val="3DA870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8677656" y="3840480"/>
            <a:ext cx="3246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8A8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analítico conectado a APIs</a:t>
            </a:r>
            <a:endParaRPr lang="en-US" sz="1000" dirty="0"/>
          </a:p>
        </p:txBody>
      </p:sp>
      <p:sp>
        <p:nvSpPr>
          <p:cNvPr id="61" name="Shape 59"/>
          <p:cNvSpPr/>
          <p:nvPr/>
        </p:nvSpPr>
        <p:spPr>
          <a:xfrm>
            <a:off x="8458200" y="4297680"/>
            <a:ext cx="128016" cy="128016"/>
          </a:xfrm>
          <a:prstGeom prst="rect">
            <a:avLst/>
          </a:prstGeom>
          <a:solidFill>
            <a:srgbClr val="3DA870"/>
          </a:solidFill>
          <a:ln w="12700">
            <a:solidFill>
              <a:srgbClr val="3DA870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8677656" y="4261104"/>
            <a:ext cx="3246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8A8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Evaluación LinkedIn · YouTube · Pinterest</a:t>
            </a:r>
            <a:endParaRPr lang="en-US" sz="1000" dirty="0"/>
          </a:p>
        </p:txBody>
      </p:sp>
      <p:sp>
        <p:nvSpPr>
          <p:cNvPr id="63" name="Shape 61"/>
          <p:cNvSpPr/>
          <p:nvPr/>
        </p:nvSpPr>
        <p:spPr>
          <a:xfrm>
            <a:off x="8458200" y="4718304"/>
            <a:ext cx="128016" cy="128016"/>
          </a:xfrm>
          <a:prstGeom prst="rect">
            <a:avLst/>
          </a:prstGeom>
          <a:solidFill>
            <a:srgbClr val="3DA870"/>
          </a:solidFill>
          <a:ln w="12700">
            <a:solidFill>
              <a:srgbClr val="3DA870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8677656" y="4681728"/>
            <a:ext cx="3246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8A8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Optimizaciones trimestrales basadas en datos</a:t>
            </a:r>
            <a:endParaRPr lang="en-US" sz="1000" dirty="0"/>
          </a:p>
        </p:txBody>
      </p:sp>
      <p:sp>
        <p:nvSpPr>
          <p:cNvPr id="65" name="Shape 63"/>
          <p:cNvSpPr/>
          <p:nvPr/>
        </p:nvSpPr>
        <p:spPr>
          <a:xfrm>
            <a:off x="8458200" y="5806440"/>
            <a:ext cx="3429000" cy="274320"/>
          </a:xfrm>
          <a:prstGeom prst="rect">
            <a:avLst/>
          </a:prstGeom>
          <a:solidFill>
            <a:srgbClr val="25252F"/>
          </a:solidFill>
          <a:ln w="12700">
            <a:solidFill>
              <a:srgbClr val="25252F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8503920" y="5824728"/>
            <a:ext cx="3337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5A5A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Gate: 10+ leads/mes · Top 3 búsquedas locales · 25+ reseñas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111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201168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400" kern="0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1 · QUICK WINS — SEMANAS 1–6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0" y="6492240"/>
            <a:ext cx="12161520" cy="365760"/>
          </a:xfrm>
          <a:prstGeom prst="rect">
            <a:avLst/>
          </a:prstGeom>
          <a:solidFill>
            <a:srgbClr val="1C1C26"/>
          </a:solidFill>
          <a:ln w="12700">
            <a:solidFill>
              <a:srgbClr val="1C1C2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651052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5A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Documento 05 — Checklist Maestro de Ejecución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8686800" y="6510528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5A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Thor Metal Art · Miami, FL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320040" y="50292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8E6D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Máximo impacto. Mínima complejidad.</a:t>
            </a:r>
            <a:endParaRPr lang="en-US" sz="3000" dirty="0"/>
          </a:p>
        </p:txBody>
      </p:sp>
      <p:sp>
        <p:nvSpPr>
          <p:cNvPr id="8" name="Shape 6"/>
          <p:cNvSpPr/>
          <p:nvPr/>
        </p:nvSpPr>
        <p:spPr>
          <a:xfrm>
            <a:off x="320040" y="1389888"/>
            <a:ext cx="3749040" cy="2286000"/>
          </a:xfrm>
          <a:prstGeom prst="rect">
            <a:avLst/>
          </a:prstGeom>
          <a:solidFill>
            <a:srgbClr val="1C1C26"/>
          </a:solidFill>
          <a:ln w="6350">
            <a:solidFill>
              <a:srgbClr val="B8860B">
                <a:alpha val="35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84632" y="1554480"/>
            <a:ext cx="384048" cy="384048"/>
          </a:xfrm>
          <a:prstGeom prst="ellipse">
            <a:avLst/>
          </a:prstGeom>
          <a:solidFill>
            <a:srgbClr val="B8860B">
              <a:alpha val="25000"/>
            </a:srgbClr>
          </a:solidFill>
          <a:ln w="12700">
            <a:solidFill>
              <a:srgbClr val="B8860B">
                <a:alpha val="50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4632" y="15544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B886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960120" y="1554480"/>
            <a:ext cx="29443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E8E6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Crear y verificar Google Business Profile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84632" y="2139696"/>
            <a:ext cx="1234440" cy="256032"/>
          </a:xfrm>
          <a:prstGeom prst="rect">
            <a:avLst/>
          </a:prstGeom>
          <a:solidFill>
            <a:srgbClr val="25252F"/>
          </a:solidFill>
          <a:ln w="12700">
            <a:solidFill>
              <a:srgbClr val="25252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21208" y="2167128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3–5 hrs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1828800" y="2139696"/>
            <a:ext cx="914400" cy="256032"/>
          </a:xfrm>
          <a:prstGeom prst="rect">
            <a:avLst/>
          </a:prstGeom>
          <a:solidFill>
            <a:srgbClr val="D94A4A">
              <a:alpha val="22000"/>
            </a:srgbClr>
          </a:solidFill>
          <a:ln w="12700">
            <a:solidFill>
              <a:srgbClr val="D94A4A">
                <a:alpha val="45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856232" y="2167128"/>
            <a:ext cx="8778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9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Crítico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84632" y="2505456"/>
            <a:ext cx="3419856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5A5A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GBP, Thor Metal Art es invisible en el local pack de Google Maps para búsquedas de alta intención.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063240" y="3346704"/>
            <a:ext cx="868680" cy="219456"/>
          </a:xfrm>
          <a:prstGeom prst="rect">
            <a:avLst/>
          </a:prstGeom>
          <a:solidFill>
            <a:srgbClr val="B8860B">
              <a:alpha val="18000"/>
            </a:srgbClr>
          </a:solidFill>
          <a:ln w="12700">
            <a:solidFill>
              <a:srgbClr val="B8860B">
                <a:alpha val="3500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081528" y="3364992"/>
            <a:ext cx="841248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Consultor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279392" y="1389888"/>
            <a:ext cx="3749040" cy="2286000"/>
          </a:xfrm>
          <a:prstGeom prst="rect">
            <a:avLst/>
          </a:prstGeom>
          <a:solidFill>
            <a:srgbClr val="1C1C26"/>
          </a:solidFill>
          <a:ln w="6350">
            <a:solidFill>
              <a:srgbClr val="B8860B">
                <a:alpha val="35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443984" y="1554480"/>
            <a:ext cx="384048" cy="384048"/>
          </a:xfrm>
          <a:prstGeom prst="ellipse">
            <a:avLst/>
          </a:prstGeom>
          <a:solidFill>
            <a:srgbClr val="B8860B">
              <a:alpha val="25000"/>
            </a:srgbClr>
          </a:solidFill>
          <a:ln w="12700">
            <a:solidFill>
              <a:srgbClr val="B8860B">
                <a:alpha val="5000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443984" y="15544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B886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919472" y="1554480"/>
            <a:ext cx="29443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E8E6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Solicitar reseñas a 5–8 clientes existentes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443984" y="2139696"/>
            <a:ext cx="1234440" cy="256032"/>
          </a:xfrm>
          <a:prstGeom prst="rect">
            <a:avLst/>
          </a:prstGeom>
          <a:solidFill>
            <a:srgbClr val="25252F"/>
          </a:solidFill>
          <a:ln w="12700">
            <a:solidFill>
              <a:srgbClr val="25252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480560" y="2167128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1–2 hrs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5788152" y="2139696"/>
            <a:ext cx="914400" cy="256032"/>
          </a:xfrm>
          <a:prstGeom prst="rect">
            <a:avLst/>
          </a:prstGeom>
          <a:solidFill>
            <a:srgbClr val="B8860B">
              <a:alpha val="22000"/>
            </a:srgbClr>
          </a:solidFill>
          <a:ln w="12700">
            <a:solidFill>
              <a:srgbClr val="B8860B">
                <a:alpha val="4500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815584" y="2167128"/>
            <a:ext cx="8778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Alto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4443984" y="2505456"/>
            <a:ext cx="3419856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5A5A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primeras 10 reseñas tienen el mayor impacto proporcional en ranking y credibilidad. Base de reputación inmediata.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7022592" y="3346704"/>
            <a:ext cx="868680" cy="219456"/>
          </a:xfrm>
          <a:prstGeom prst="rect">
            <a:avLst/>
          </a:prstGeom>
          <a:solidFill>
            <a:srgbClr val="3DA870">
              <a:alpha val="18000"/>
            </a:srgbClr>
          </a:solidFill>
          <a:ln w="12700">
            <a:solidFill>
              <a:srgbClr val="3DA870">
                <a:alpha val="3500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040880" y="3364992"/>
            <a:ext cx="841248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3DA8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Karel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8238744" y="1389888"/>
            <a:ext cx="3749040" cy="2286000"/>
          </a:xfrm>
          <a:prstGeom prst="rect">
            <a:avLst/>
          </a:prstGeom>
          <a:solidFill>
            <a:srgbClr val="1C1C26"/>
          </a:solidFill>
          <a:ln w="6350">
            <a:solidFill>
              <a:srgbClr val="B8860B">
                <a:alpha val="35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8403336" y="1554480"/>
            <a:ext cx="384048" cy="384048"/>
          </a:xfrm>
          <a:prstGeom prst="ellipse">
            <a:avLst/>
          </a:prstGeom>
          <a:solidFill>
            <a:srgbClr val="B8860B">
              <a:alpha val="25000"/>
            </a:srgbClr>
          </a:solidFill>
          <a:ln w="12700">
            <a:solidFill>
              <a:srgbClr val="B8860B">
                <a:alpha val="5000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403336" y="15544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B886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8878824" y="1554480"/>
            <a:ext cx="29443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E8E6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Actualizar bio de Instagram con NAP y CTA claro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8403336" y="2139696"/>
            <a:ext cx="1234440" cy="256032"/>
          </a:xfrm>
          <a:prstGeom prst="rect">
            <a:avLst/>
          </a:prstGeom>
          <a:solidFill>
            <a:srgbClr val="25252F"/>
          </a:solidFill>
          <a:ln w="12700">
            <a:solidFill>
              <a:srgbClr val="25252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439912" y="2167128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30 min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9747504" y="2139696"/>
            <a:ext cx="914400" cy="256032"/>
          </a:xfrm>
          <a:prstGeom prst="rect">
            <a:avLst/>
          </a:prstGeom>
          <a:solidFill>
            <a:srgbClr val="5A5A68">
              <a:alpha val="22000"/>
            </a:srgbClr>
          </a:solidFill>
          <a:ln w="12700">
            <a:solidFill>
              <a:srgbClr val="5A5A68">
                <a:alpha val="45000"/>
              </a:srgbClr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9774936" y="2167128"/>
            <a:ext cx="8778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A8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Medio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8403336" y="2505456"/>
            <a:ext cx="3419856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5A5A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Consistencia de nombre, categoría y ubicación entre GBP e Instagram. Primer contacto visual coherente.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10981944" y="3346704"/>
            <a:ext cx="868680" cy="219456"/>
          </a:xfrm>
          <a:prstGeom prst="rect">
            <a:avLst/>
          </a:prstGeom>
          <a:solidFill>
            <a:srgbClr val="4A90D9">
              <a:alpha val="18000"/>
            </a:srgbClr>
          </a:solidFill>
          <a:ln w="12700">
            <a:solidFill>
              <a:srgbClr val="4A90D9">
                <a:alpha val="35000"/>
              </a:srgbClr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11000232" y="3364992"/>
            <a:ext cx="841248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4A90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Ambos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320040" y="3904488"/>
            <a:ext cx="3749040" cy="2286000"/>
          </a:xfrm>
          <a:prstGeom prst="rect">
            <a:avLst/>
          </a:prstGeom>
          <a:solidFill>
            <a:srgbClr val="1C1C26"/>
          </a:solidFill>
          <a:ln w="6350">
            <a:solidFill>
              <a:srgbClr val="B8860B">
                <a:alpha val="35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484632" y="4069080"/>
            <a:ext cx="384048" cy="384048"/>
          </a:xfrm>
          <a:prstGeom prst="ellipse">
            <a:avLst/>
          </a:prstGeom>
          <a:solidFill>
            <a:srgbClr val="B8860B">
              <a:alpha val="25000"/>
            </a:srgbClr>
          </a:solidFill>
          <a:ln w="12700">
            <a:solidFill>
              <a:srgbClr val="B8860B">
                <a:alpha val="50000"/>
              </a:srgbClr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84632" y="40690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B886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300" dirty="0"/>
          </a:p>
        </p:txBody>
      </p:sp>
      <p:sp>
        <p:nvSpPr>
          <p:cNvPr id="44" name="Text 42"/>
          <p:cNvSpPr/>
          <p:nvPr/>
        </p:nvSpPr>
        <p:spPr>
          <a:xfrm>
            <a:off x="960120" y="4069080"/>
            <a:ext cx="29443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E8E6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Publicar 3 casos de obra con geo-etiqueta Miami</a:t>
            </a:r>
            <a:endParaRPr lang="en-US" sz="1200" dirty="0"/>
          </a:p>
        </p:txBody>
      </p:sp>
      <p:sp>
        <p:nvSpPr>
          <p:cNvPr id="45" name="Shape 43"/>
          <p:cNvSpPr/>
          <p:nvPr/>
        </p:nvSpPr>
        <p:spPr>
          <a:xfrm>
            <a:off x="484632" y="4654296"/>
            <a:ext cx="1234440" cy="256032"/>
          </a:xfrm>
          <a:prstGeom prst="rect">
            <a:avLst/>
          </a:prstGeom>
          <a:solidFill>
            <a:srgbClr val="25252F"/>
          </a:solidFill>
          <a:ln w="12700">
            <a:solidFill>
              <a:srgbClr val="25252F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521208" y="4681728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4–6 hrs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1828800" y="4654296"/>
            <a:ext cx="914400" cy="256032"/>
          </a:xfrm>
          <a:prstGeom prst="rect">
            <a:avLst/>
          </a:prstGeom>
          <a:solidFill>
            <a:srgbClr val="5A5A68">
              <a:alpha val="22000"/>
            </a:srgbClr>
          </a:solidFill>
          <a:ln w="12700">
            <a:solidFill>
              <a:srgbClr val="5A5A68">
                <a:alpha val="45000"/>
              </a:srgbClr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1856232" y="4681728"/>
            <a:ext cx="8778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A8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Medio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484632" y="5020056"/>
            <a:ext cx="3419856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5A5A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Señales de ubicación para Google. Contenido de portafolio que refuerza la propuesta de valor dual.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3063240" y="5861304"/>
            <a:ext cx="868680" cy="219456"/>
          </a:xfrm>
          <a:prstGeom prst="rect">
            <a:avLst/>
          </a:prstGeom>
          <a:solidFill>
            <a:srgbClr val="3DA870">
              <a:alpha val="18000"/>
            </a:srgbClr>
          </a:solidFill>
          <a:ln w="12700">
            <a:solidFill>
              <a:srgbClr val="3DA870">
                <a:alpha val="35000"/>
              </a:srgbClr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3081528" y="5879592"/>
            <a:ext cx="841248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3DA8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Karel</a:t>
            </a:r>
            <a:endParaRPr lang="en-US" sz="850" dirty="0"/>
          </a:p>
        </p:txBody>
      </p:sp>
      <p:sp>
        <p:nvSpPr>
          <p:cNvPr id="52" name="Shape 50"/>
          <p:cNvSpPr/>
          <p:nvPr/>
        </p:nvSpPr>
        <p:spPr>
          <a:xfrm>
            <a:off x="4279392" y="3904488"/>
            <a:ext cx="3749040" cy="2286000"/>
          </a:xfrm>
          <a:prstGeom prst="rect">
            <a:avLst/>
          </a:prstGeom>
          <a:solidFill>
            <a:srgbClr val="1C1C26"/>
          </a:solidFill>
          <a:ln w="6350">
            <a:solidFill>
              <a:srgbClr val="B8860B">
                <a:alpha val="35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3" name="Shape 51"/>
          <p:cNvSpPr/>
          <p:nvPr/>
        </p:nvSpPr>
        <p:spPr>
          <a:xfrm>
            <a:off x="4443984" y="4069080"/>
            <a:ext cx="384048" cy="384048"/>
          </a:xfrm>
          <a:prstGeom prst="ellipse">
            <a:avLst/>
          </a:prstGeom>
          <a:solidFill>
            <a:srgbClr val="B8860B">
              <a:alpha val="25000"/>
            </a:srgbClr>
          </a:solidFill>
          <a:ln w="12700">
            <a:solidFill>
              <a:srgbClr val="B8860B">
                <a:alpha val="50000"/>
              </a:srgbClr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4443984" y="40690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B886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1300" dirty="0"/>
          </a:p>
        </p:txBody>
      </p:sp>
      <p:sp>
        <p:nvSpPr>
          <p:cNvPr id="55" name="Text 53"/>
          <p:cNvSpPr/>
          <p:nvPr/>
        </p:nvSpPr>
        <p:spPr>
          <a:xfrm>
            <a:off x="4919472" y="4069080"/>
            <a:ext cx="29443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E8E6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Registrar dominio y crear landing de cotización</a:t>
            </a:r>
            <a:endParaRPr lang="en-US" sz="1200" dirty="0"/>
          </a:p>
        </p:txBody>
      </p:sp>
      <p:sp>
        <p:nvSpPr>
          <p:cNvPr id="56" name="Shape 54"/>
          <p:cNvSpPr/>
          <p:nvPr/>
        </p:nvSpPr>
        <p:spPr>
          <a:xfrm>
            <a:off x="4443984" y="4654296"/>
            <a:ext cx="1234440" cy="256032"/>
          </a:xfrm>
          <a:prstGeom prst="rect">
            <a:avLst/>
          </a:prstGeom>
          <a:solidFill>
            <a:srgbClr val="25252F"/>
          </a:solidFill>
          <a:ln w="12700">
            <a:solidFill>
              <a:srgbClr val="25252F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4480560" y="4681728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1 semana</a:t>
            </a:r>
            <a:endParaRPr lang="en-US" sz="900" dirty="0"/>
          </a:p>
        </p:txBody>
      </p:sp>
      <p:sp>
        <p:nvSpPr>
          <p:cNvPr id="58" name="Shape 56"/>
          <p:cNvSpPr/>
          <p:nvPr/>
        </p:nvSpPr>
        <p:spPr>
          <a:xfrm>
            <a:off x="5788152" y="4654296"/>
            <a:ext cx="914400" cy="256032"/>
          </a:xfrm>
          <a:prstGeom prst="rect">
            <a:avLst/>
          </a:prstGeom>
          <a:solidFill>
            <a:srgbClr val="B8860B">
              <a:alpha val="22000"/>
            </a:srgbClr>
          </a:solidFill>
          <a:ln w="12700">
            <a:solidFill>
              <a:srgbClr val="B8860B">
                <a:alpha val="45000"/>
              </a:srgbClr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5815584" y="4681728"/>
            <a:ext cx="8778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Alto</a:t>
            </a:r>
            <a:endParaRPr lang="en-US" sz="900" dirty="0"/>
          </a:p>
        </p:txBody>
      </p:sp>
      <p:sp>
        <p:nvSpPr>
          <p:cNvPr id="60" name="Text 58"/>
          <p:cNvSpPr/>
          <p:nvPr/>
        </p:nvSpPr>
        <p:spPr>
          <a:xfrm>
            <a:off x="4443984" y="5020056"/>
            <a:ext cx="3419856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5A5A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Hub propio que no depende de Instagram. URL de destino para GBP, directorios y QR codes de obra.</a:t>
            </a:r>
            <a:endParaRPr lang="en-US" sz="1000" dirty="0"/>
          </a:p>
        </p:txBody>
      </p:sp>
      <p:sp>
        <p:nvSpPr>
          <p:cNvPr id="61" name="Shape 59"/>
          <p:cNvSpPr/>
          <p:nvPr/>
        </p:nvSpPr>
        <p:spPr>
          <a:xfrm>
            <a:off x="7022592" y="5861304"/>
            <a:ext cx="868680" cy="219456"/>
          </a:xfrm>
          <a:prstGeom prst="rect">
            <a:avLst/>
          </a:prstGeom>
          <a:solidFill>
            <a:srgbClr val="B8860B">
              <a:alpha val="18000"/>
            </a:srgbClr>
          </a:solidFill>
          <a:ln w="12700">
            <a:solidFill>
              <a:srgbClr val="B8860B">
                <a:alpha val="35000"/>
              </a:srgbClr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7040880" y="5879592"/>
            <a:ext cx="841248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Consultor</a:t>
            </a:r>
            <a:endParaRPr lang="en-US" sz="850" dirty="0"/>
          </a:p>
        </p:txBody>
      </p:sp>
      <p:sp>
        <p:nvSpPr>
          <p:cNvPr id="63" name="Shape 61"/>
          <p:cNvSpPr/>
          <p:nvPr/>
        </p:nvSpPr>
        <p:spPr>
          <a:xfrm>
            <a:off x="8238744" y="3904488"/>
            <a:ext cx="3749040" cy="2286000"/>
          </a:xfrm>
          <a:prstGeom prst="rect">
            <a:avLst/>
          </a:prstGeom>
          <a:solidFill>
            <a:srgbClr val="1C1C26"/>
          </a:solidFill>
          <a:ln w="6350">
            <a:solidFill>
              <a:srgbClr val="B8860B">
                <a:alpha val="35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4" name="Shape 62"/>
          <p:cNvSpPr/>
          <p:nvPr/>
        </p:nvSpPr>
        <p:spPr>
          <a:xfrm>
            <a:off x="8403336" y="4069080"/>
            <a:ext cx="384048" cy="384048"/>
          </a:xfrm>
          <a:prstGeom prst="ellipse">
            <a:avLst/>
          </a:prstGeom>
          <a:solidFill>
            <a:srgbClr val="B8860B">
              <a:alpha val="25000"/>
            </a:srgbClr>
          </a:solidFill>
          <a:ln w="12700">
            <a:solidFill>
              <a:srgbClr val="B8860B">
                <a:alpha val="50000"/>
              </a:srgbClr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8403336" y="40690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B886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</a:t>
            </a:r>
            <a:endParaRPr lang="en-US" sz="1300" dirty="0"/>
          </a:p>
        </p:txBody>
      </p:sp>
      <p:sp>
        <p:nvSpPr>
          <p:cNvPr id="66" name="Text 64"/>
          <p:cNvSpPr/>
          <p:nvPr/>
        </p:nvSpPr>
        <p:spPr>
          <a:xfrm>
            <a:off x="8878824" y="4069080"/>
            <a:ext cx="29443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E8E6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Crear perfil en Angi con servicios básicos</a:t>
            </a:r>
            <a:endParaRPr lang="en-US" sz="1200" dirty="0"/>
          </a:p>
        </p:txBody>
      </p:sp>
      <p:sp>
        <p:nvSpPr>
          <p:cNvPr id="67" name="Shape 65"/>
          <p:cNvSpPr/>
          <p:nvPr/>
        </p:nvSpPr>
        <p:spPr>
          <a:xfrm>
            <a:off x="8403336" y="4654296"/>
            <a:ext cx="1234440" cy="256032"/>
          </a:xfrm>
          <a:prstGeom prst="rect">
            <a:avLst/>
          </a:prstGeom>
          <a:solidFill>
            <a:srgbClr val="25252F"/>
          </a:solidFill>
          <a:ln w="12700">
            <a:solidFill>
              <a:srgbClr val="25252F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8439912" y="4681728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2–3 hrs</a:t>
            </a:r>
            <a:endParaRPr lang="en-US" sz="900" dirty="0"/>
          </a:p>
        </p:txBody>
      </p:sp>
      <p:sp>
        <p:nvSpPr>
          <p:cNvPr id="69" name="Shape 67"/>
          <p:cNvSpPr/>
          <p:nvPr/>
        </p:nvSpPr>
        <p:spPr>
          <a:xfrm>
            <a:off x="9747504" y="4654296"/>
            <a:ext cx="914400" cy="256032"/>
          </a:xfrm>
          <a:prstGeom prst="rect">
            <a:avLst/>
          </a:prstGeom>
          <a:solidFill>
            <a:srgbClr val="5A5A68">
              <a:alpha val="22000"/>
            </a:srgbClr>
          </a:solidFill>
          <a:ln w="12700">
            <a:solidFill>
              <a:srgbClr val="5A5A68">
                <a:alpha val="45000"/>
              </a:srgbClr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9774936" y="4681728"/>
            <a:ext cx="8778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A8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Medio</a:t>
            </a:r>
            <a:endParaRPr lang="en-US" sz="900" dirty="0"/>
          </a:p>
        </p:txBody>
      </p:sp>
      <p:sp>
        <p:nvSpPr>
          <p:cNvPr id="71" name="Text 69"/>
          <p:cNvSpPr/>
          <p:nvPr/>
        </p:nvSpPr>
        <p:spPr>
          <a:xfrm>
            <a:off x="8403336" y="5020056"/>
            <a:ext cx="3419856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5A5A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Canal adicional de leads de alta intención. Homeowners buscan contratistas activamente en Angi.</a:t>
            </a:r>
            <a:endParaRPr lang="en-US" sz="1000" dirty="0"/>
          </a:p>
        </p:txBody>
      </p:sp>
      <p:sp>
        <p:nvSpPr>
          <p:cNvPr id="72" name="Shape 70"/>
          <p:cNvSpPr/>
          <p:nvPr/>
        </p:nvSpPr>
        <p:spPr>
          <a:xfrm>
            <a:off x="10981944" y="5861304"/>
            <a:ext cx="868680" cy="219456"/>
          </a:xfrm>
          <a:prstGeom prst="rect">
            <a:avLst/>
          </a:prstGeom>
          <a:solidFill>
            <a:srgbClr val="B8860B">
              <a:alpha val="18000"/>
            </a:srgbClr>
          </a:solidFill>
          <a:ln w="12700">
            <a:solidFill>
              <a:srgbClr val="B8860B">
                <a:alpha val="35000"/>
              </a:srgbClr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11000232" y="5879592"/>
            <a:ext cx="841248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Consultor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111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201168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400" kern="0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MÉTRICAS · KPIS Y METAS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0" y="6492240"/>
            <a:ext cx="12161520" cy="365760"/>
          </a:xfrm>
          <a:prstGeom prst="rect">
            <a:avLst/>
          </a:prstGeom>
          <a:solidFill>
            <a:srgbClr val="1C1C26"/>
          </a:solidFill>
          <a:ln w="12700">
            <a:solidFill>
              <a:srgbClr val="1C1C2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651052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5A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Documentos 01 y 06 — Metodología Maestra y Reporte Mensual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8686800" y="6510528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5A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Thor Metal Art · Miami, FL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320040" y="5029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8E6D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¿Cómo medimos el éxito?</a:t>
            </a:r>
            <a:endParaRPr lang="en-US" sz="3000" dirty="0"/>
          </a:p>
        </p:txBody>
      </p:sp>
      <p:sp>
        <p:nvSpPr>
          <p:cNvPr id="8" name="Shape 6"/>
          <p:cNvSpPr/>
          <p:nvPr/>
        </p:nvSpPr>
        <p:spPr>
          <a:xfrm>
            <a:off x="320040" y="1325880"/>
            <a:ext cx="5394960" cy="4846320"/>
          </a:xfrm>
          <a:prstGeom prst="rect">
            <a:avLst/>
          </a:prstGeom>
          <a:solidFill>
            <a:srgbClr val="1C1C26"/>
          </a:solidFill>
          <a:ln w="12700">
            <a:solidFill>
              <a:srgbClr val="B8860B">
                <a:alpha val="6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02920" y="146304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 CERRAR FASE 1 · 6 SEMANAS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502920" y="2724912"/>
            <a:ext cx="5029200" cy="0"/>
          </a:xfrm>
          <a:prstGeom prst="line">
            <a:avLst/>
          </a:prstGeom>
          <a:noFill/>
          <a:ln w="6350">
            <a:solidFill>
              <a:srgbClr val="25252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1920240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B886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3–8</a:t>
            </a:r>
            <a:endParaRPr lang="en-US" sz="3600" dirty="0"/>
          </a:p>
        </p:txBody>
      </p:sp>
      <p:sp>
        <p:nvSpPr>
          <p:cNvPr id="12" name="Text 10"/>
          <p:cNvSpPr/>
          <p:nvPr/>
        </p:nvSpPr>
        <p:spPr>
          <a:xfrm>
            <a:off x="1965960" y="1965960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E6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Reseñas en Google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965960" y="2322576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5A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(desde 0 actuales · rating ≥ 4.8 ★)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02920" y="3749040"/>
            <a:ext cx="5029200" cy="0"/>
          </a:xfrm>
          <a:prstGeom prst="line">
            <a:avLst/>
          </a:prstGeom>
          <a:noFill/>
          <a:ln w="6350">
            <a:solidFill>
              <a:srgbClr val="25252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2920" y="2944368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B886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✓</a:t>
            </a:r>
            <a:endParaRPr lang="en-US" sz="3600" dirty="0"/>
          </a:p>
        </p:txBody>
      </p:sp>
      <p:sp>
        <p:nvSpPr>
          <p:cNvPr id="16" name="Text 14"/>
          <p:cNvSpPr/>
          <p:nvPr/>
        </p:nvSpPr>
        <p:spPr>
          <a:xfrm>
            <a:off x="1965960" y="2990088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E6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GBP verificado y en Maps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02920" y="4773168"/>
            <a:ext cx="5029200" cy="0"/>
          </a:xfrm>
          <a:prstGeom prst="line">
            <a:avLst/>
          </a:prstGeom>
          <a:noFill/>
          <a:ln w="6350">
            <a:solidFill>
              <a:srgbClr val="25252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2920" y="3968496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B886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≥ 1</a:t>
            </a:r>
            <a:endParaRPr lang="en-US" sz="3600" dirty="0"/>
          </a:p>
        </p:txBody>
      </p:sp>
      <p:sp>
        <p:nvSpPr>
          <p:cNvPr id="19" name="Text 17"/>
          <p:cNvSpPr/>
          <p:nvPr/>
        </p:nvSpPr>
        <p:spPr>
          <a:xfrm>
            <a:off x="1965960" y="4014216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E6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 fuera de Instagram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965960" y="4370832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5A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(primer lead por canal propio)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502920" y="5797296"/>
            <a:ext cx="5029200" cy="0"/>
          </a:xfrm>
          <a:prstGeom prst="line">
            <a:avLst/>
          </a:prstGeom>
          <a:noFill/>
          <a:ln w="6350">
            <a:solidFill>
              <a:srgbClr val="25252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02920" y="4992624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B886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5+</a:t>
            </a:r>
            <a:endParaRPr lang="en-US" sz="3600" dirty="0"/>
          </a:p>
        </p:txBody>
      </p:sp>
      <p:sp>
        <p:nvSpPr>
          <p:cNvPr id="23" name="Text 21"/>
          <p:cNvSpPr/>
          <p:nvPr/>
        </p:nvSpPr>
        <p:spPr>
          <a:xfrm>
            <a:off x="1965960" y="5038344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E6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Canales con NAP consistente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1965960" y="539496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5A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(GBP · IG · Angi · Yelp · Web)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6080760" y="1325880"/>
            <a:ext cx="5760720" cy="4846320"/>
          </a:xfrm>
          <a:prstGeom prst="rect">
            <a:avLst/>
          </a:prstGeom>
          <a:solidFill>
            <a:srgbClr val="1C1C26"/>
          </a:solidFill>
          <a:ln w="6350">
            <a:solidFill>
              <a:srgbClr val="3DA870">
                <a:alpha val="45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6263640" y="1463040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3DA8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 A 6 MESES · FASE 3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6263640" y="2724912"/>
            <a:ext cx="5394960" cy="0"/>
          </a:xfrm>
          <a:prstGeom prst="line">
            <a:avLst/>
          </a:prstGeom>
          <a:noFill/>
          <a:ln w="6350">
            <a:solidFill>
              <a:srgbClr val="25252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263640" y="192024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3DA87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10+</a:t>
            </a:r>
            <a:endParaRPr lang="en-US" sz="3400" dirty="0"/>
          </a:p>
        </p:txBody>
      </p:sp>
      <p:sp>
        <p:nvSpPr>
          <p:cNvPr id="29" name="Text 27"/>
          <p:cNvSpPr/>
          <p:nvPr/>
        </p:nvSpPr>
        <p:spPr>
          <a:xfrm>
            <a:off x="7955280" y="196596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E6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Leads mensuales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7955280" y="2322576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5A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30% desde canales propios (web, GBP, Angi)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6263640" y="3749040"/>
            <a:ext cx="5394960" cy="0"/>
          </a:xfrm>
          <a:prstGeom prst="line">
            <a:avLst/>
          </a:prstGeom>
          <a:noFill/>
          <a:ln w="6350">
            <a:solidFill>
              <a:srgbClr val="25252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263640" y="2944368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3DA87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25+</a:t>
            </a:r>
            <a:endParaRPr lang="en-US" sz="3400" dirty="0"/>
          </a:p>
        </p:txBody>
      </p:sp>
      <p:sp>
        <p:nvSpPr>
          <p:cNvPr id="33" name="Text 31"/>
          <p:cNvSpPr/>
          <p:nvPr/>
        </p:nvSpPr>
        <p:spPr>
          <a:xfrm>
            <a:off x="7955280" y="2990088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E6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Reseñas en Google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7955280" y="3346704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5A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Rating ≥ 4.7 ★ · Top 3 de prominencia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6263640" y="4773168"/>
            <a:ext cx="5394960" cy="0"/>
          </a:xfrm>
          <a:prstGeom prst="line">
            <a:avLst/>
          </a:prstGeom>
          <a:noFill/>
          <a:ln w="6350">
            <a:solidFill>
              <a:srgbClr val="25252F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263640" y="3968496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3DA87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Top 3</a:t>
            </a:r>
            <a:endParaRPr lang="en-US" sz="3400" dirty="0"/>
          </a:p>
        </p:txBody>
      </p:sp>
      <p:sp>
        <p:nvSpPr>
          <p:cNvPr id="37" name="Text 35"/>
          <p:cNvSpPr/>
          <p:nvPr/>
        </p:nvSpPr>
        <p:spPr>
          <a:xfrm>
            <a:off x="7955280" y="4014216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E6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Posición Maps local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7955280" y="437083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5A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'custom metal gates miami' y similares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6263640" y="5797296"/>
            <a:ext cx="5394960" cy="0"/>
          </a:xfrm>
          <a:prstGeom prst="line">
            <a:avLst/>
          </a:prstGeom>
          <a:noFill/>
          <a:ln w="6350">
            <a:solidFill>
              <a:srgbClr val="25252F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263640" y="4992624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3DA87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500+</a:t>
            </a:r>
            <a:endParaRPr lang="en-US" sz="3400" dirty="0"/>
          </a:p>
        </p:txBody>
      </p:sp>
      <p:sp>
        <p:nvSpPr>
          <p:cNvPr id="41" name="Text 39"/>
          <p:cNvSpPr/>
          <p:nvPr/>
        </p:nvSpPr>
        <p:spPr>
          <a:xfrm>
            <a:off x="7955280" y="5038344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E6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Sesiones orgánicas / mes</a:t>
            </a:r>
            <a:endParaRPr lang="en-US" sz="1300" dirty="0"/>
          </a:p>
        </p:txBody>
      </p:sp>
      <p:sp>
        <p:nvSpPr>
          <p:cNvPr id="42" name="Text 40"/>
          <p:cNvSpPr/>
          <p:nvPr/>
        </p:nvSpPr>
        <p:spPr>
          <a:xfrm>
            <a:off x="7955280" y="53949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5A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Desde búsqueda en Google (SEO local)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111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201168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400" kern="0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ACCIÓN · PRÓXIMOS PASOS INMEDIATOS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0" y="6492240"/>
            <a:ext cx="12161520" cy="365760"/>
          </a:xfrm>
          <a:prstGeom prst="rect">
            <a:avLst/>
          </a:prstGeom>
          <a:solidFill>
            <a:srgbClr val="1C1C26"/>
          </a:solidFill>
          <a:ln w="12700">
            <a:solidFill>
              <a:srgbClr val="1C1C2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651052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5A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Documento 05 — Checklist Maestro · Sección 1A Kick-off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8686800" y="6510528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5A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Thor Metal Art · Miami, FL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320040" y="50292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8E6D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Esta semana, arrancamos.</a:t>
            </a:r>
            <a:endParaRPr lang="en-US" sz="3000" dirty="0"/>
          </a:p>
        </p:txBody>
      </p:sp>
      <p:sp>
        <p:nvSpPr>
          <p:cNvPr id="8" name="Shape 6"/>
          <p:cNvSpPr/>
          <p:nvPr/>
        </p:nvSpPr>
        <p:spPr>
          <a:xfrm>
            <a:off x="320040" y="1371600"/>
            <a:ext cx="5715000" cy="1417320"/>
          </a:xfrm>
          <a:prstGeom prst="rect">
            <a:avLst/>
          </a:prstGeom>
          <a:solidFill>
            <a:srgbClr val="1C1C26"/>
          </a:solidFill>
          <a:ln w="6350">
            <a:solidFill>
              <a:srgbClr val="3DA870">
                <a:alpha val="35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20040" y="1371600"/>
            <a:ext cx="640080" cy="1417320"/>
          </a:xfrm>
          <a:prstGeom prst="rect">
            <a:avLst/>
          </a:prstGeom>
          <a:solidFill>
            <a:srgbClr val="3DA870">
              <a:alpha val="18000"/>
            </a:srgbClr>
          </a:solidFill>
          <a:ln w="12700">
            <a:solidFill>
              <a:srgbClr val="3DA870">
                <a:alpha val="35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0040" y="1371600"/>
            <a:ext cx="6400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3DA87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1097280" y="1517904"/>
            <a:ext cx="45720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E8E6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Confirmar correo Gmail del negocio para crear GBP, GA4 y Search Console con el email correcto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4937760" y="2478024"/>
            <a:ext cx="932688" cy="219456"/>
          </a:xfrm>
          <a:prstGeom prst="rect">
            <a:avLst/>
          </a:prstGeom>
          <a:solidFill>
            <a:srgbClr val="3DA870">
              <a:alpha val="20000"/>
            </a:srgbClr>
          </a:solidFill>
          <a:ln w="12700">
            <a:solidFill>
              <a:srgbClr val="3DA870">
                <a:alpha val="40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956048" y="2496312"/>
            <a:ext cx="8961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3DA8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Karel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6309360" y="1371600"/>
            <a:ext cx="5715000" cy="1417320"/>
          </a:xfrm>
          <a:prstGeom prst="rect">
            <a:avLst/>
          </a:prstGeom>
          <a:solidFill>
            <a:srgbClr val="1C1C26"/>
          </a:solidFill>
          <a:ln w="6350">
            <a:solidFill>
              <a:srgbClr val="4A90D9">
                <a:alpha val="35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309360" y="1371600"/>
            <a:ext cx="640080" cy="1417320"/>
          </a:xfrm>
          <a:prstGeom prst="rect">
            <a:avLst/>
          </a:prstGeom>
          <a:solidFill>
            <a:srgbClr val="4A90D9">
              <a:alpha val="18000"/>
            </a:srgbClr>
          </a:solidFill>
          <a:ln w="12700">
            <a:solidFill>
              <a:srgbClr val="4A90D9">
                <a:alpha val="35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309360" y="1371600"/>
            <a:ext cx="6400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4A90D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7086600" y="1517904"/>
            <a:ext cx="45720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E8E6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Revisar y aprobar el Brief de Posicionamiento (Doc 03) — mensajes clave, descriptor EN/ES, tagline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10927080" y="2478024"/>
            <a:ext cx="932688" cy="219456"/>
          </a:xfrm>
          <a:prstGeom prst="rect">
            <a:avLst/>
          </a:prstGeom>
          <a:solidFill>
            <a:srgbClr val="4A90D9">
              <a:alpha val="20000"/>
            </a:srgbClr>
          </a:solidFill>
          <a:ln w="12700">
            <a:solidFill>
              <a:srgbClr val="4A90D9">
                <a:alpha val="40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945368" y="2496312"/>
            <a:ext cx="8961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4A90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Ambos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320040" y="2944368"/>
            <a:ext cx="5715000" cy="1417320"/>
          </a:xfrm>
          <a:prstGeom prst="rect">
            <a:avLst/>
          </a:prstGeom>
          <a:solidFill>
            <a:srgbClr val="1C1C26"/>
          </a:solidFill>
          <a:ln w="6350">
            <a:solidFill>
              <a:srgbClr val="3DA870">
                <a:alpha val="35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20040" y="2944368"/>
            <a:ext cx="640080" cy="1417320"/>
          </a:xfrm>
          <a:prstGeom prst="rect">
            <a:avLst/>
          </a:prstGeom>
          <a:solidFill>
            <a:srgbClr val="3DA870">
              <a:alpha val="18000"/>
            </a:srgbClr>
          </a:solidFill>
          <a:ln w="12700">
            <a:solidFill>
              <a:srgbClr val="3DA870">
                <a:alpha val="3500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20040" y="2944368"/>
            <a:ext cx="6400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3DA87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1097280" y="3090672"/>
            <a:ext cx="45720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E8E6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Compartir lista de 5–8 clientes satisfechos con número de contacto para el primer lote de reseñas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4937760" y="4050792"/>
            <a:ext cx="932688" cy="219456"/>
          </a:xfrm>
          <a:prstGeom prst="rect">
            <a:avLst/>
          </a:prstGeom>
          <a:solidFill>
            <a:srgbClr val="3DA870">
              <a:alpha val="20000"/>
            </a:srgbClr>
          </a:solidFill>
          <a:ln w="12700">
            <a:solidFill>
              <a:srgbClr val="3DA870">
                <a:alpha val="4000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956048" y="4069080"/>
            <a:ext cx="8961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3DA8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Karel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6309360" y="2944368"/>
            <a:ext cx="5715000" cy="1417320"/>
          </a:xfrm>
          <a:prstGeom prst="rect">
            <a:avLst/>
          </a:prstGeom>
          <a:solidFill>
            <a:srgbClr val="1C1C26"/>
          </a:solidFill>
          <a:ln w="6350">
            <a:solidFill>
              <a:srgbClr val="B8860B">
                <a:alpha val="35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6309360" y="2944368"/>
            <a:ext cx="640080" cy="1417320"/>
          </a:xfrm>
          <a:prstGeom prst="rect">
            <a:avLst/>
          </a:prstGeom>
          <a:solidFill>
            <a:srgbClr val="B8860B">
              <a:alpha val="18000"/>
            </a:srgbClr>
          </a:solidFill>
          <a:ln w="12700">
            <a:solidFill>
              <a:srgbClr val="B8860B">
                <a:alpha val="3500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309360" y="2944368"/>
            <a:ext cx="6400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B886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2200" dirty="0"/>
          </a:p>
        </p:txBody>
      </p:sp>
      <p:sp>
        <p:nvSpPr>
          <p:cNvPr id="29" name="Text 27"/>
          <p:cNvSpPr/>
          <p:nvPr/>
        </p:nvSpPr>
        <p:spPr>
          <a:xfrm>
            <a:off x="7086600" y="3090672"/>
            <a:ext cx="45720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E8E6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Iniciar creación del Google Business Profile en business.google.com con categoría y descripción optimizadas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10927080" y="4050792"/>
            <a:ext cx="932688" cy="219456"/>
          </a:xfrm>
          <a:prstGeom prst="rect">
            <a:avLst/>
          </a:prstGeom>
          <a:solidFill>
            <a:srgbClr val="B8860B">
              <a:alpha val="20000"/>
            </a:srgbClr>
          </a:solidFill>
          <a:ln w="12700">
            <a:solidFill>
              <a:srgbClr val="B8860B">
                <a:alpha val="4000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0945368" y="4069080"/>
            <a:ext cx="8961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Consultor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320040" y="4517136"/>
            <a:ext cx="5715000" cy="1417320"/>
          </a:xfrm>
          <a:prstGeom prst="rect">
            <a:avLst/>
          </a:prstGeom>
          <a:solidFill>
            <a:srgbClr val="1C1C26"/>
          </a:solidFill>
          <a:ln w="6350">
            <a:solidFill>
              <a:srgbClr val="4A90D9">
                <a:alpha val="35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320040" y="4517136"/>
            <a:ext cx="640080" cy="1417320"/>
          </a:xfrm>
          <a:prstGeom prst="rect">
            <a:avLst/>
          </a:prstGeom>
          <a:solidFill>
            <a:srgbClr val="4A90D9">
              <a:alpha val="18000"/>
            </a:srgbClr>
          </a:solidFill>
          <a:ln w="12700">
            <a:solidFill>
              <a:srgbClr val="4A90D9">
                <a:alpha val="35000"/>
              </a:srgbClr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20040" y="4517136"/>
            <a:ext cx="6400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4A90D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2200" dirty="0"/>
          </a:p>
        </p:txBody>
      </p:sp>
      <p:sp>
        <p:nvSpPr>
          <p:cNvPr id="35" name="Text 33"/>
          <p:cNvSpPr/>
          <p:nvPr/>
        </p:nvSpPr>
        <p:spPr>
          <a:xfrm>
            <a:off x="1097280" y="4663440"/>
            <a:ext cx="45720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E8E6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Confirmar si thormetalart.com está registrado — si no, registrar esta semana a nombre de la empresa</a:t>
            </a:r>
            <a:endParaRPr lang="en-US" sz="1150" dirty="0"/>
          </a:p>
        </p:txBody>
      </p:sp>
      <p:sp>
        <p:nvSpPr>
          <p:cNvPr id="36" name="Shape 34"/>
          <p:cNvSpPr/>
          <p:nvPr/>
        </p:nvSpPr>
        <p:spPr>
          <a:xfrm>
            <a:off x="4937760" y="5623560"/>
            <a:ext cx="932688" cy="219456"/>
          </a:xfrm>
          <a:prstGeom prst="rect">
            <a:avLst/>
          </a:prstGeom>
          <a:solidFill>
            <a:srgbClr val="4A90D9">
              <a:alpha val="20000"/>
            </a:srgbClr>
          </a:solidFill>
          <a:ln w="12700">
            <a:solidFill>
              <a:srgbClr val="4A90D9">
                <a:alpha val="40000"/>
              </a:srgbClr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956048" y="5641848"/>
            <a:ext cx="8961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4A90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Ambos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6309360" y="4517136"/>
            <a:ext cx="5715000" cy="1417320"/>
          </a:xfrm>
          <a:prstGeom prst="rect">
            <a:avLst/>
          </a:prstGeom>
          <a:solidFill>
            <a:srgbClr val="1C1C26"/>
          </a:solidFill>
          <a:ln w="6350">
            <a:solidFill>
              <a:srgbClr val="3DA870">
                <a:alpha val="35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6309360" y="4517136"/>
            <a:ext cx="640080" cy="1417320"/>
          </a:xfrm>
          <a:prstGeom prst="rect">
            <a:avLst/>
          </a:prstGeom>
          <a:solidFill>
            <a:srgbClr val="3DA870">
              <a:alpha val="18000"/>
            </a:srgbClr>
          </a:solidFill>
          <a:ln w="12700">
            <a:solidFill>
              <a:srgbClr val="3DA870">
                <a:alpha val="35000"/>
              </a:srgbClr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309360" y="4517136"/>
            <a:ext cx="6400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3DA87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</a:t>
            </a:r>
            <a:endParaRPr lang="en-US" sz="2200" dirty="0"/>
          </a:p>
        </p:txBody>
      </p:sp>
      <p:sp>
        <p:nvSpPr>
          <p:cNvPr id="41" name="Text 39"/>
          <p:cNvSpPr/>
          <p:nvPr/>
        </p:nvSpPr>
        <p:spPr>
          <a:xfrm>
            <a:off x="7086600" y="4663440"/>
            <a:ext cx="45720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E8E6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Seleccionar y compartir 10–15 fotos de proyectos terminados para portafolio inicial de GBP y web</a:t>
            </a:r>
            <a:endParaRPr lang="en-US" sz="1150" dirty="0"/>
          </a:p>
        </p:txBody>
      </p:sp>
      <p:sp>
        <p:nvSpPr>
          <p:cNvPr id="42" name="Shape 40"/>
          <p:cNvSpPr/>
          <p:nvPr/>
        </p:nvSpPr>
        <p:spPr>
          <a:xfrm>
            <a:off x="10927080" y="5623560"/>
            <a:ext cx="932688" cy="219456"/>
          </a:xfrm>
          <a:prstGeom prst="rect">
            <a:avLst/>
          </a:prstGeom>
          <a:solidFill>
            <a:srgbClr val="3DA870">
              <a:alpha val="20000"/>
            </a:srgbClr>
          </a:solidFill>
          <a:ln w="12700">
            <a:solidFill>
              <a:srgbClr val="3DA870">
                <a:alpha val="40000"/>
              </a:srgbClr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10945368" y="5641848"/>
            <a:ext cx="8961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3DA8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Karel</a:t>
            </a:r>
            <a:endParaRPr lang="en-US" sz="850" dirty="0"/>
          </a:p>
        </p:txBody>
      </p:sp>
      <p:sp>
        <p:nvSpPr>
          <p:cNvPr id="44" name="Shape 42"/>
          <p:cNvSpPr/>
          <p:nvPr/>
        </p:nvSpPr>
        <p:spPr>
          <a:xfrm>
            <a:off x="320040" y="5943600"/>
            <a:ext cx="11521440" cy="347472"/>
          </a:xfrm>
          <a:prstGeom prst="rect">
            <a:avLst/>
          </a:prstGeom>
          <a:solidFill>
            <a:srgbClr val="1C1C26"/>
          </a:solidFill>
          <a:ln w="6350">
            <a:solidFill>
              <a:srgbClr val="B8860B">
                <a:alpha val="35000"/>
              </a:srgbClr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48640" y="5980176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📁  Todos los documentos del proyecto disponibles en el Portal del Cliente — acceso desde cualquier dispositivo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Plan de Presencia Digital — Kick-off</dc:title>
  <dc:subject>PptxGenJS Presentation</dc:subject>
  <dc:creator>Thor Metal Art</dc:creator>
  <cp:lastModifiedBy>Thor Metal Art</cp:lastModifiedBy>
  <cp:revision>1</cp:revision>
  <dcterms:created xsi:type="dcterms:W3CDTF">2026-03-12T18:55:07Z</dcterms:created>
  <dcterms:modified xsi:type="dcterms:W3CDTF">2026-03-12T18:55:07Z</dcterms:modified>
</cp:coreProperties>
</file>